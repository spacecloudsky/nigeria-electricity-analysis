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1" r:id="rId8"/>
    <p:sldId id="262" r:id="rId9"/>
    <p:sldId id="263" r:id="rId10"/>
    <p:sldId id="283" r:id="rId11"/>
    <p:sldId id="264" r:id="rId12"/>
    <p:sldId id="266" r:id="rId13"/>
    <p:sldId id="267" r:id="rId14"/>
    <p:sldId id="268" r:id="rId15"/>
    <p:sldId id="284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41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155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99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25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613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02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78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12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139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379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074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771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6877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4262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181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5898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615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053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6810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  <p:sldLayoutId id="2147484485" r:id="rId8"/>
    <p:sldLayoutId id="2147484486" r:id="rId9"/>
    <p:sldLayoutId id="2147484487" r:id="rId10"/>
    <p:sldLayoutId id="2147484488" r:id="rId11"/>
    <p:sldLayoutId id="2147484489" r:id="rId12"/>
    <p:sldLayoutId id="2147484490" r:id="rId13"/>
    <p:sldLayoutId id="2147484491" r:id="rId14"/>
    <p:sldLayoutId id="2147484492" r:id="rId15"/>
    <p:sldLayoutId id="2147484493" r:id="rId16"/>
    <p:sldLayoutId id="21474844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315845"/>
            <a:ext cx="7080026" cy="2282498"/>
          </a:xfrm>
        </p:spPr>
        <p:txBody>
          <a:bodyPr>
            <a:normAutofit fontScale="90000"/>
          </a:bodyPr>
          <a:lstStyle/>
          <a:p>
            <a:r>
              <a:rPr dirty="0"/>
              <a:t>Electricity Consumption Analysis in Nigeria (2022–2024)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843666"/>
            <a:ext cx="7080026" cy="1096324"/>
          </a:xfrm>
        </p:spPr>
        <p:txBody>
          <a:bodyPr>
            <a:normAutofit/>
          </a:bodyPr>
          <a:lstStyle/>
          <a:p>
            <a:r>
              <a:rPr dirty="0" err="1"/>
              <a:t>Loctech</a:t>
            </a:r>
            <a:r>
              <a:rPr dirty="0"/>
              <a:t> Data Project – Insights, Challenges, and Predictive Modeling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Context and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Nigeria’s power sector is crucial for economic growth.</a:t>
            </a:r>
          </a:p>
          <a:p>
            <a:r>
              <a:rPr dirty="0"/>
              <a:t>NERC uses data to guide infrastructure planning and reforms.</a:t>
            </a:r>
          </a:p>
          <a:p>
            <a:r>
              <a:rPr dirty="0"/>
              <a:t>Project explores usage, billing, payment, and compliance data.</a:t>
            </a:r>
          </a:p>
          <a:p>
            <a:r>
              <a:rPr dirty="0"/>
              <a:t>Supports policy, investment, and consumer behavior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Challenges: poor compliance, estimated billing, tariff mismatches.</a:t>
            </a:r>
          </a:p>
          <a:p>
            <a:r>
              <a:t>Need to analyze and validate trends, regional behavior, and fairness.</a:t>
            </a:r>
          </a:p>
          <a:p>
            <a:r>
              <a:t>Modeling tools can support early detection of payment risk.</a:t>
            </a:r>
          </a:p>
          <a:p>
            <a:r>
              <a:t>Insights guide better regulation and billing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10,000 records from Jan 2022 to Dec 2024; cleaned to 9,961.</a:t>
            </a:r>
          </a:p>
          <a:p>
            <a:r>
              <a:rPr dirty="0"/>
              <a:t>Key fields: timestamp, state, region, </a:t>
            </a:r>
            <a:r>
              <a:rPr dirty="0" err="1"/>
              <a:t>consumer_type</a:t>
            </a:r>
            <a:r>
              <a:rPr dirty="0"/>
              <a:t>, kWh, bill, payment, meter, tariff.</a:t>
            </a:r>
          </a:p>
          <a:p>
            <a:r>
              <a:rPr dirty="0"/>
              <a:t>Removed outliers (kWh &gt; 3000, bill &gt; ₦40k).</a:t>
            </a:r>
          </a:p>
          <a:p>
            <a:r>
              <a:rPr dirty="0"/>
              <a:t>Imputation based on region &amp; consumer type; transformations for time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564780"/>
            <a:ext cx="7704667" cy="3435036"/>
          </a:xfrm>
        </p:spPr>
        <p:txBody>
          <a:bodyPr/>
          <a:lstStyle/>
          <a:p>
            <a:r>
              <a:rPr dirty="0"/>
              <a:t>Python (</a:t>
            </a:r>
            <a:r>
              <a:rPr dirty="0" err="1"/>
              <a:t>Jupyter</a:t>
            </a:r>
            <a:r>
              <a:rPr dirty="0"/>
              <a:t> Notebook) for analysis &amp; modeling.</a:t>
            </a:r>
          </a:p>
          <a:p>
            <a:r>
              <a:rPr dirty="0"/>
              <a:t>Libraries: pandas, </a:t>
            </a:r>
            <a:r>
              <a:rPr dirty="0" err="1"/>
              <a:t>seaborn</a:t>
            </a:r>
            <a:r>
              <a:rPr dirty="0"/>
              <a:t>, </a:t>
            </a:r>
            <a:r>
              <a:rPr dirty="0" err="1"/>
              <a:t>matplotlib</a:t>
            </a:r>
            <a:r>
              <a:rPr dirty="0"/>
              <a:t>, </a:t>
            </a:r>
            <a:r>
              <a:rPr dirty="0" err="1"/>
              <a:t>scikit</a:t>
            </a:r>
            <a:r>
              <a:rPr dirty="0"/>
              <a:t>-learn, </a:t>
            </a:r>
            <a:r>
              <a:rPr dirty="0" err="1"/>
              <a:t>plotly</a:t>
            </a:r>
            <a:r>
              <a:rPr dirty="0"/>
              <a:t>.</a:t>
            </a:r>
          </a:p>
          <a:p>
            <a:r>
              <a:rPr dirty="0"/>
              <a:t>Statistical testing with </a:t>
            </a:r>
            <a:r>
              <a:rPr dirty="0" err="1"/>
              <a:t>scipy</a:t>
            </a:r>
            <a:r>
              <a:rPr dirty="0"/>
              <a:t>.</a:t>
            </a:r>
          </a:p>
          <a:p>
            <a:r>
              <a:rPr dirty="0"/>
              <a:t>MS Word for documentation.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Daily, Weekly &amp; Monthly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Daily: Higher consumption on weekdays. Peak: July 19, 2022.</a:t>
            </a:r>
          </a:p>
          <a:p>
            <a:r>
              <a:t>Weekly: Highest week = Week 29 (2022); lowest = Week 6 (2023).</a:t>
            </a:r>
          </a:p>
          <a:p>
            <a:r>
              <a:t>Monthly: Dec 2023, July 2022, Sep 2024 were peak periods.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2023 Monthly Consumption Trend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820466"/>
            <a:ext cx="7764463" cy="3882231"/>
          </a:xfrm>
        </p:spPr>
      </p:pic>
    </p:spTree>
    <p:extLst>
      <p:ext uri="{BB962C8B-B14F-4D97-AF65-F5344CB8AC3E}">
        <p14:creationId xmlns:p14="http://schemas.microsoft.com/office/powerpoint/2010/main" val="3626418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Yearly and Regional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Yearly: 2023 saw highest total </a:t>
            </a:r>
            <a:r>
              <a:rPr dirty="0" smtClean="0"/>
              <a:t>usage</a:t>
            </a:r>
            <a:r>
              <a:rPr lang="en-US" dirty="0"/>
              <a:t>.</a:t>
            </a:r>
            <a:endParaRPr dirty="0"/>
          </a:p>
          <a:p>
            <a:r>
              <a:rPr dirty="0" smtClean="0"/>
              <a:t>South </a:t>
            </a:r>
            <a:r>
              <a:rPr dirty="0"/>
              <a:t>South and North West </a:t>
            </a:r>
            <a:r>
              <a:rPr dirty="0" smtClean="0"/>
              <a:t>had</a:t>
            </a:r>
            <a:r>
              <a:rPr lang="en-US" dirty="0" smtClean="0"/>
              <a:t> the</a:t>
            </a:r>
            <a:r>
              <a:rPr dirty="0" smtClean="0"/>
              <a:t> </a:t>
            </a:r>
            <a:r>
              <a:rPr dirty="0"/>
              <a:t>highest total usage.</a:t>
            </a:r>
          </a:p>
          <a:p>
            <a:r>
              <a:rPr lang="en-US" dirty="0"/>
              <a:t>The North East and North Central regions </a:t>
            </a:r>
            <a:r>
              <a:rPr lang="en-US" dirty="0" smtClean="0"/>
              <a:t>had the lowest,</a:t>
            </a:r>
            <a:r>
              <a:rPr dirty="0" smtClean="0"/>
              <a:t> possibly </a:t>
            </a:r>
            <a:r>
              <a:rPr dirty="0"/>
              <a:t>due to poor infrastructure or conflict.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91" y="3381830"/>
            <a:ext cx="7515922" cy="347617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Comparative Regional Trends (2022–2024)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South </a:t>
            </a:r>
            <a:r>
              <a:rPr dirty="0" err="1"/>
              <a:t>South</a:t>
            </a:r>
            <a:r>
              <a:rPr dirty="0"/>
              <a:t> maintained highest usage yearly.</a:t>
            </a:r>
          </a:p>
          <a:p>
            <a:r>
              <a:rPr lang="en-US" dirty="0"/>
              <a:t>The North East experienced sharp growth in recent years, followed by a gradual decline</a:t>
            </a:r>
            <a:r>
              <a:rPr dirty="0" smtClean="0"/>
              <a:t>.</a:t>
            </a:r>
            <a:endParaRPr dirty="0"/>
          </a:p>
          <a:p>
            <a:r>
              <a:rPr dirty="0"/>
              <a:t>South West also showed strong growth.</a:t>
            </a:r>
          </a:p>
          <a:p>
            <a:r>
              <a:rPr dirty="0"/>
              <a:t>Regions like North Central had flat growth, hinting at stagnant development.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Comparative Regional Consumption Trend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281" y="2047081"/>
            <a:ext cx="6667500" cy="3429000"/>
          </a:xfrm>
        </p:spPr>
      </p:pic>
    </p:spTree>
    <p:extLst>
      <p:ext uri="{BB962C8B-B14F-4D97-AF65-F5344CB8AC3E}">
        <p14:creationId xmlns:p14="http://schemas.microsoft.com/office/powerpoint/2010/main" val="1182087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Consumer Profiling - Total and Average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Agricultural: highest total and average (372k kWh, 169.1 kWh </a:t>
            </a:r>
            <a:r>
              <a:rPr dirty="0" err="1"/>
              <a:t>avg</a:t>
            </a:r>
            <a:r>
              <a:rPr dirty="0"/>
              <a:t>).</a:t>
            </a:r>
          </a:p>
          <a:p>
            <a:r>
              <a:rPr dirty="0"/>
              <a:t>Commercial: lowest total and average (310k kWh, 161 kWh </a:t>
            </a:r>
            <a:r>
              <a:rPr dirty="0" err="1"/>
              <a:t>avg</a:t>
            </a:r>
            <a:r>
              <a:rPr dirty="0"/>
              <a:t>).</a:t>
            </a:r>
          </a:p>
          <a:p>
            <a:r>
              <a:rPr dirty="0"/>
              <a:t>Residential, Government, Commercial had similar averages.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6" y="3381829"/>
            <a:ext cx="7994197" cy="34761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Payment Behavior by Consumer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Agriculture had highest volume of both payers and defaulters.</a:t>
            </a:r>
          </a:p>
          <a:p>
            <a:r>
              <a:rPr dirty="0"/>
              <a:t>Government had best compliance (66% paid).</a:t>
            </a:r>
          </a:p>
          <a:p>
            <a:r>
              <a:rPr dirty="0"/>
              <a:t>Commercial users had lowest compliance rates overall.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43" y="3193142"/>
            <a:ext cx="7242628" cy="36648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Compliance by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South </a:t>
            </a:r>
            <a:r>
              <a:rPr dirty="0" err="1"/>
              <a:t>South</a:t>
            </a:r>
            <a:r>
              <a:rPr dirty="0"/>
              <a:t>: largest volume of payers but also largest unpaid.</a:t>
            </a:r>
          </a:p>
          <a:p>
            <a:r>
              <a:rPr dirty="0"/>
              <a:t>South East: best compliance % (66.18%), lowest unpaid (23%).</a:t>
            </a:r>
          </a:p>
          <a:p>
            <a:r>
              <a:rPr dirty="0"/>
              <a:t>North West: highest unpaid % (27%).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6" y="3149600"/>
            <a:ext cx="7765322" cy="3708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Tariff Band vs Payment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Band B: most consumers but also most defaulters.</a:t>
            </a:r>
          </a:p>
          <a:p>
            <a:r>
              <a:rPr dirty="0"/>
              <a:t>Band A: highest compliance despite higher cost.</a:t>
            </a:r>
          </a:p>
          <a:p>
            <a:r>
              <a:rPr dirty="0"/>
              <a:t>Band </a:t>
            </a:r>
            <a:r>
              <a:rPr dirty="0" smtClean="0"/>
              <a:t>E:</a:t>
            </a:r>
            <a:r>
              <a:rPr lang="en-US" dirty="0" smtClean="0"/>
              <a:t> It has the</a:t>
            </a:r>
            <a:r>
              <a:rPr dirty="0" smtClean="0"/>
              <a:t> </a:t>
            </a:r>
            <a:r>
              <a:rPr dirty="0"/>
              <a:t>least </a:t>
            </a:r>
            <a:r>
              <a:rPr lang="en-US" dirty="0" smtClean="0"/>
              <a:t>number of </a:t>
            </a:r>
            <a:r>
              <a:rPr dirty="0" smtClean="0"/>
              <a:t>consumers.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3120571"/>
            <a:ext cx="7315200" cy="37374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Payment Compliance Across Tariff Bands Chart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281" y="2047081"/>
            <a:ext cx="6667500" cy="3429000"/>
          </a:xfrm>
        </p:spPr>
      </p:pic>
    </p:spTree>
    <p:extLst>
      <p:ext uri="{BB962C8B-B14F-4D97-AF65-F5344CB8AC3E}">
        <p14:creationId xmlns:p14="http://schemas.microsoft.com/office/powerpoint/2010/main" val="2551832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Consumption vs Payment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High usage observed among unpaid consumers.</a:t>
            </a:r>
          </a:p>
          <a:p>
            <a:r>
              <a:rPr dirty="0"/>
              <a:t>Implies estimated billing, bypass, or poor enforcement</a:t>
            </a:r>
            <a:r>
              <a:rPr dirty="0" smtClean="0"/>
              <a:t>.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34" y="2888343"/>
            <a:ext cx="6991351" cy="39696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Meter Status and Billing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Working meters: lowest average bill (₦5,125).</a:t>
            </a:r>
          </a:p>
          <a:p>
            <a:r>
              <a:rPr dirty="0"/>
              <a:t>Faulty: highest bill (₦5,229), likely due to estimation.</a:t>
            </a:r>
          </a:p>
          <a:p>
            <a:r>
              <a:rPr dirty="0"/>
              <a:t>Disconnected: still billed, suggests illegal </a:t>
            </a:r>
            <a:r>
              <a:rPr dirty="0" smtClean="0"/>
              <a:t>reconnectio</a:t>
            </a:r>
            <a:r>
              <a:rPr lang="en-US" dirty="0" smtClean="0"/>
              <a:t>n</a:t>
            </a:r>
            <a:r>
              <a:rPr dirty="0" smtClean="0"/>
              <a:t> </a:t>
            </a:r>
            <a:r>
              <a:rPr dirty="0"/>
              <a:t>or </a:t>
            </a:r>
            <a:r>
              <a:rPr lang="en-US" dirty="0" smtClean="0"/>
              <a:t>uninformed collection of bills by the electricity body</a:t>
            </a:r>
            <a:r>
              <a:rPr dirty="0" smtClean="0"/>
              <a:t>.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43" y="3265714"/>
            <a:ext cx="7049407" cy="359228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Meter Status and Consumption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Consumption very similar across meter types (165–159 kWh).</a:t>
            </a:r>
          </a:p>
          <a:p>
            <a:r>
              <a:rPr dirty="0"/>
              <a:t>Disconnected users </a:t>
            </a:r>
            <a:r>
              <a:rPr lang="en-US" dirty="0" smtClean="0"/>
              <a:t>are </a:t>
            </a:r>
            <a:r>
              <a:rPr dirty="0" smtClean="0"/>
              <a:t>showing </a:t>
            </a:r>
            <a:r>
              <a:rPr dirty="0"/>
              <a:t>high </a:t>
            </a:r>
            <a:r>
              <a:rPr dirty="0" smtClean="0"/>
              <a:t>usage</a:t>
            </a:r>
            <a:r>
              <a:rPr lang="en-US" dirty="0" smtClean="0"/>
              <a:t>,</a:t>
            </a:r>
            <a:r>
              <a:rPr dirty="0" smtClean="0"/>
              <a:t> </a:t>
            </a:r>
            <a:r>
              <a:rPr lang="en-US" dirty="0" smtClean="0"/>
              <a:t>which should not be</a:t>
            </a:r>
            <a:r>
              <a:rPr dirty="0" smtClean="0"/>
              <a:t>.</a:t>
            </a:r>
            <a:endParaRPr dirty="0"/>
          </a:p>
          <a:p>
            <a:r>
              <a:rPr dirty="0"/>
              <a:t>Implies data errors or power theft; calls for tighter </a:t>
            </a:r>
            <a:r>
              <a:rPr dirty="0" smtClean="0"/>
              <a:t>audits</a:t>
            </a:r>
            <a:r>
              <a:rPr lang="en-US" dirty="0" smtClean="0"/>
              <a:t> and monitoring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29" y="3338286"/>
            <a:ext cx="7063921" cy="351971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Tariff Band Effectiveness - Billing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All bands had similar average bills (₦5,030–₦5,220).</a:t>
            </a:r>
          </a:p>
          <a:p>
            <a:r>
              <a:rPr dirty="0"/>
              <a:t>Band E billed similar to Band A, contradicts expected pricing tiers.</a:t>
            </a:r>
          </a:p>
          <a:p>
            <a:r>
              <a:rPr dirty="0"/>
              <a:t>Implies tariff classification not impacting billing</a:t>
            </a:r>
            <a:r>
              <a:rPr dirty="0" smtClean="0"/>
              <a:t>.</a:t>
            </a:r>
            <a:r>
              <a:rPr lang="en-US" dirty="0" smtClean="0"/>
              <a:t> Needs review.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6" y="3062514"/>
            <a:ext cx="7765322" cy="379548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Tariff Band Effectiveness - Consumption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Bands A &amp; E had near-identical usage (166 vs 165 kWh).</a:t>
            </a:r>
          </a:p>
          <a:p>
            <a:r>
              <a:t>Suggests misclassification, illegal connections, or estimation bias.</a:t>
            </a:r>
          </a:p>
          <a:p>
            <a:r>
              <a:t>Tariff system may be functionally meaningless.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6" y="3062514"/>
            <a:ext cx="7355568" cy="379548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T-Test: Residential vs Commercial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 = 0.12487, p = 0.90; no significant difference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US" dirty="0"/>
              <a:t>Fail to reject the null hypothesis: The electricity consumption is NOT SIGNIFICANTLY DIFFERENT across </a:t>
            </a:r>
            <a:r>
              <a:rPr lang="en-US" dirty="0" smtClean="0"/>
              <a:t>Residential and Commercial consumer types</a:t>
            </a:r>
            <a:endParaRPr dirty="0"/>
          </a:p>
          <a:p>
            <a:r>
              <a:rPr lang="en-US" dirty="0" smtClean="0"/>
              <a:t>This might </a:t>
            </a:r>
            <a:r>
              <a:rPr lang="en-US" dirty="0"/>
              <a:t>s</a:t>
            </a:r>
            <a:r>
              <a:rPr dirty="0" smtClean="0"/>
              <a:t>upport</a:t>
            </a:r>
            <a:r>
              <a:rPr lang="en-US" dirty="0" smtClean="0"/>
              <a:t> or lead to</a:t>
            </a:r>
            <a:r>
              <a:rPr dirty="0" smtClean="0"/>
              <a:t> </a:t>
            </a:r>
            <a:r>
              <a:rPr dirty="0"/>
              <a:t>similar pricing </a:t>
            </a:r>
            <a:r>
              <a:rPr dirty="0" smtClean="0"/>
              <a:t>policies</a:t>
            </a:r>
            <a:r>
              <a:rPr lang="en-US" dirty="0" smtClean="0"/>
              <a:t> being developed for both commercial and residential consumers</a:t>
            </a:r>
            <a:r>
              <a:rPr dirty="0" smtClean="0"/>
              <a:t>.</a:t>
            </a:r>
            <a:endParaRPr dirty="0"/>
          </a:p>
          <a:p>
            <a:r>
              <a:rPr lang="en-US" dirty="0" smtClean="0"/>
              <a:t>This </a:t>
            </a:r>
            <a:r>
              <a:rPr lang="en-US" dirty="0"/>
              <a:t>a</a:t>
            </a:r>
            <a:r>
              <a:rPr dirty="0" smtClean="0"/>
              <a:t>lso raises</a:t>
            </a:r>
            <a:r>
              <a:rPr lang="en-US" dirty="0" smtClean="0"/>
              <a:t> concerns about whether</a:t>
            </a:r>
            <a:r>
              <a:rPr dirty="0" smtClean="0"/>
              <a:t> some</a:t>
            </a:r>
            <a:r>
              <a:rPr lang="en-US" dirty="0" smtClean="0"/>
              <a:t> resident</a:t>
            </a:r>
            <a:r>
              <a:rPr dirty="0" smtClean="0"/>
              <a:t>s </a:t>
            </a:r>
            <a:r>
              <a:rPr dirty="0"/>
              <a:t>may be running commercial </a:t>
            </a:r>
            <a:r>
              <a:rPr dirty="0" smtClean="0"/>
              <a:t>activities</a:t>
            </a:r>
            <a:r>
              <a:rPr lang="en-US" dirty="0" smtClean="0"/>
              <a:t> in their homes</a:t>
            </a:r>
            <a:r>
              <a:rPr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ANOVA: Tariff Band vs Billing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 = 0.415, p = 0.7974: No meaningful difference across bands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US" dirty="0"/>
              <a:t>Fail to reject the null hypothesis</a:t>
            </a:r>
            <a:r>
              <a:rPr lang="en-US" dirty="0" smtClean="0"/>
              <a:t>: The </a:t>
            </a:r>
            <a:r>
              <a:rPr lang="en-US" dirty="0"/>
              <a:t>average electricity bill does not vary significantly for those with different tariff </a:t>
            </a:r>
            <a:r>
              <a:rPr lang="en-US" dirty="0" smtClean="0"/>
              <a:t>bands (from band A to E).</a:t>
            </a:r>
            <a:endParaRPr dirty="0"/>
          </a:p>
          <a:p>
            <a:r>
              <a:rPr lang="en-US" dirty="0" smtClean="0"/>
              <a:t>This </a:t>
            </a:r>
            <a:r>
              <a:rPr lang="en-US" dirty="0"/>
              <a:t>i</a:t>
            </a:r>
            <a:r>
              <a:rPr dirty="0" smtClean="0"/>
              <a:t>mplies </a:t>
            </a:r>
            <a:r>
              <a:rPr lang="en-US" dirty="0" smtClean="0"/>
              <a:t>that </a:t>
            </a:r>
            <a:r>
              <a:rPr dirty="0" smtClean="0"/>
              <a:t>all bands</a:t>
            </a:r>
            <a:r>
              <a:rPr lang="en-US" dirty="0" smtClean="0"/>
              <a:t> are</a:t>
            </a:r>
            <a:r>
              <a:rPr dirty="0" smtClean="0"/>
              <a:t> </a:t>
            </a:r>
            <a:r>
              <a:rPr dirty="0"/>
              <a:t>charged </a:t>
            </a:r>
            <a:r>
              <a:rPr dirty="0" smtClean="0"/>
              <a:t>similarly</a:t>
            </a:r>
            <a:r>
              <a:rPr lang="en-US" dirty="0" smtClean="0"/>
              <a:t>, which should not be.</a:t>
            </a:r>
            <a:endParaRPr dirty="0"/>
          </a:p>
          <a:p>
            <a:r>
              <a:rPr lang="en-US" dirty="0" smtClean="0"/>
              <a:t>This </a:t>
            </a:r>
            <a:r>
              <a:rPr lang="en-US" dirty="0"/>
              <a:t>r</a:t>
            </a:r>
            <a:r>
              <a:rPr dirty="0" smtClean="0"/>
              <a:t>aises </a:t>
            </a:r>
            <a:r>
              <a:rPr dirty="0"/>
              <a:t>concerns over </a:t>
            </a:r>
            <a:r>
              <a:rPr lang="en-US" dirty="0" smtClean="0"/>
              <a:t>the effectiveness of tariff policy.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Chi-Square: Region vs Payment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Chi² = 21.606, p = 0.0172: Significant relationship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US" dirty="0" smtClean="0"/>
              <a:t>Reject </a:t>
            </a:r>
            <a:r>
              <a:rPr lang="en-US" dirty="0"/>
              <a:t>the null hypothesis:  There is </a:t>
            </a:r>
            <a:r>
              <a:rPr lang="en-US" dirty="0" smtClean="0"/>
              <a:t>a significant </a:t>
            </a:r>
            <a:r>
              <a:rPr lang="en-US" dirty="0"/>
              <a:t>relationship between a consumer's region and their bill payment status</a:t>
            </a:r>
            <a:r>
              <a:rPr lang="en-US" dirty="0" smtClean="0"/>
              <a:t>.</a:t>
            </a:r>
            <a:endParaRPr dirty="0"/>
          </a:p>
          <a:p>
            <a:r>
              <a:rPr dirty="0"/>
              <a:t>Region impacts payment behavior</a:t>
            </a:r>
            <a:r>
              <a:rPr dirty="0" smtClean="0"/>
              <a:t>.</a:t>
            </a:r>
            <a:r>
              <a:rPr lang="en-US" dirty="0" smtClean="0"/>
              <a:t> The payment behavior of consumers is influenced by the region they reside.</a:t>
            </a:r>
            <a:endParaRPr dirty="0"/>
          </a:p>
          <a:p>
            <a:r>
              <a:rPr lang="en-US" dirty="0" smtClean="0"/>
              <a:t>This helps to ensure certain policies can be enforced in certain regions, thereby improving payment compliance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US" dirty="0" smtClean="0"/>
              <a:t>Electricity infrastructure quality in certain regions should also investigated and solved to improve payment compliance.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Logistic Regression (Payment Status)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65%, predicts only 'Paid' class.</a:t>
            </a:r>
          </a:p>
          <a:p>
            <a:r>
              <a:t>Fails on 'Unpaid' and 'Partially Paid'.</a:t>
            </a:r>
          </a:p>
          <a:p>
            <a:r>
              <a:t>Class imbalance needs addressing (SMOTE, reweighting).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 (Payment Status)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49%, better than logistic regression on other classes.</a:t>
            </a:r>
          </a:p>
          <a:p>
            <a:r>
              <a:t>Still low precision/recall for 'Unpaid' and 'Partially Paid'.</a:t>
            </a:r>
          </a:p>
          <a:p>
            <a:r>
              <a:t>Recommend using XGBoost or ensemble models.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Random Forest Regression (Bill Estimation)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R² = -0.19, MAE = ₦2,068, RMSE = ₦3,212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US" dirty="0"/>
              <a:t>RMSE which is root mean square error is greater than MAE to large extent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result above show a strong sign of large errors present in the data. </a:t>
            </a:r>
            <a:r>
              <a:rPr lang="en-US" dirty="0" smtClean="0"/>
              <a:t>This </a:t>
            </a:r>
            <a:r>
              <a:rPr lang="en-US" dirty="0"/>
              <a:t>means that the model is not suitable to be used in the real world for prediction</a:t>
            </a:r>
            <a:r>
              <a:rPr lang="en-US" dirty="0" smtClean="0"/>
              <a:t>.</a:t>
            </a:r>
          </a:p>
          <a:p>
            <a:r>
              <a:rPr lang="en-US" dirty="0"/>
              <a:t>Data should be checked for outliers. The outliers should be removed.</a:t>
            </a:r>
            <a:endParaRPr dirty="0"/>
          </a:p>
          <a:p>
            <a:r>
              <a:rPr dirty="0"/>
              <a:t>Performs worse than mean line; poor estimator.</a:t>
            </a:r>
          </a:p>
          <a:p>
            <a:r>
              <a:rPr dirty="0"/>
              <a:t>Needs richer features: supply hours, historical bills, outages.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Billing fairness compromised by faulty meters and tariff </a:t>
            </a:r>
            <a:r>
              <a:rPr dirty="0" smtClean="0"/>
              <a:t>misalignment</a:t>
            </a:r>
            <a:r>
              <a:rPr lang="en-US" dirty="0" smtClean="0"/>
              <a:t>, or improper band connection of consumers.</a:t>
            </a:r>
            <a:endParaRPr dirty="0"/>
          </a:p>
          <a:p>
            <a:r>
              <a:rPr dirty="0"/>
              <a:t>Regional targeting critical for improving compliance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US" dirty="0" smtClean="0"/>
              <a:t>Tariff band assignment to consumers should be investigated.</a:t>
            </a:r>
          </a:p>
          <a:p>
            <a:r>
              <a:rPr lang="en-US" dirty="0" smtClean="0"/>
              <a:t>Regular monitoring of consumers meters should be carried out to reduce bypass culture.</a:t>
            </a:r>
            <a:endParaRPr dirty="0"/>
          </a:p>
          <a:p>
            <a:r>
              <a:rPr dirty="0"/>
              <a:t>Classification models need behavior data and balancing.</a:t>
            </a:r>
          </a:p>
          <a:p>
            <a:r>
              <a:rPr dirty="0" err="1"/>
              <a:t>DisCos</a:t>
            </a:r>
            <a:r>
              <a:rPr dirty="0"/>
              <a:t> should invest in smart meters, audits, and digital platforms.</a:t>
            </a:r>
          </a:p>
          <a:p>
            <a:r>
              <a:rPr dirty="0"/>
              <a:t>Further data needed</a:t>
            </a:r>
            <a:r>
              <a:rPr dirty="0" smtClean="0"/>
              <a:t>: </a:t>
            </a:r>
            <a:r>
              <a:rPr dirty="0"/>
              <a:t>income, household size, meter type.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399</TotalTime>
  <Words>1183</Words>
  <Application>Microsoft Office PowerPoint</Application>
  <PresentationFormat>On-screen Show (4:3)</PresentationFormat>
  <Paragraphs>112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Calisto MT</vt:lpstr>
      <vt:lpstr>Trebuchet MS</vt:lpstr>
      <vt:lpstr>Wingdings 2</vt:lpstr>
      <vt:lpstr>Slate</vt:lpstr>
      <vt:lpstr>Electricity Consumption Analysis in Nigeria (2022–2024)</vt:lpstr>
      <vt:lpstr>Project Context and Goals</vt:lpstr>
      <vt:lpstr>Problem Statement</vt:lpstr>
      <vt:lpstr>Dataset Overview</vt:lpstr>
      <vt:lpstr>Tools Used</vt:lpstr>
      <vt:lpstr>Daily, Weekly &amp; Monthly Trends</vt:lpstr>
      <vt:lpstr>2023 Monthly Consumption Trend</vt:lpstr>
      <vt:lpstr>Yearly and Regional Trends</vt:lpstr>
      <vt:lpstr>Comparative Regional Trends (2022–2024)</vt:lpstr>
      <vt:lpstr>Comparative Regional Consumption Trend</vt:lpstr>
      <vt:lpstr>Consumer Profiling - Total and Average</vt:lpstr>
      <vt:lpstr>Payment Behavior by Consumer Type</vt:lpstr>
      <vt:lpstr>Payment Compliance by Region</vt:lpstr>
      <vt:lpstr>Tariff Band vs Payment Status</vt:lpstr>
      <vt:lpstr>Payment Compliance Across Tariff Bands Chart</vt:lpstr>
      <vt:lpstr>Consumption vs Payment Status</vt:lpstr>
      <vt:lpstr>Meter Status and Billing</vt:lpstr>
      <vt:lpstr>Meter Status and Consumption</vt:lpstr>
      <vt:lpstr>Tariff Band Effectiveness - Billing</vt:lpstr>
      <vt:lpstr>Tariff Band Effectiveness - Consumption</vt:lpstr>
      <vt:lpstr>T-Test: Residential vs Commercial</vt:lpstr>
      <vt:lpstr>ANOVA: Tariff Band vs Billing</vt:lpstr>
      <vt:lpstr>Chi-Square: Region vs Payment Status</vt:lpstr>
      <vt:lpstr>Logistic Regression (Payment Status)</vt:lpstr>
      <vt:lpstr>Decision Tree (Payment Status)</vt:lpstr>
      <vt:lpstr>Random Forest Regression (Bill Estimation)</vt:lpstr>
      <vt:lpstr>Conclusion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Electricity Consumption Analysis in Nigeria (2022–2024)</dc:title>
  <dc:subject/>
  <dc:creator/>
  <cp:keywords/>
  <dc:description>generated using python-pptx</dc:description>
  <cp:lastModifiedBy>HP</cp:lastModifiedBy>
  <cp:revision>13</cp:revision>
  <dcterms:created xsi:type="dcterms:W3CDTF">2013-01-27T09:14:16Z</dcterms:created>
  <dcterms:modified xsi:type="dcterms:W3CDTF">2025-07-22T23:11:15Z</dcterms:modified>
  <cp:category/>
</cp:coreProperties>
</file>